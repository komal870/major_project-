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5219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55320"/>
            <a:ext cx="800100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04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Health Monitoring &amp; Multi-Disease Prediction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2452807" y="2278380"/>
            <a:ext cx="423838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1500" dirty="0">
                <a:solidFill>
                  <a:srgbClr val="E0E7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AI/ML Based Healthcare Decision Support System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3047152" y="2678430"/>
            <a:ext cx="304969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1500" dirty="0">
                <a:solidFill>
                  <a:srgbClr val="E0E7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B.Tech Major Project - 7th Semester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702585" y="3364230"/>
            <a:ext cx="173871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60"/>
              </a:lnSpc>
              <a:buNone/>
            </a:pPr>
            <a:r>
              <a:rPr lang="en-US" sz="1200" dirty="0">
                <a:solidFill>
                  <a:srgbClr val="C7D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CSE &amp; AI | DAV University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058691" y="4179570"/>
            <a:ext cx="30265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050" dirty="0">
                <a:solidFill>
                  <a:srgbClr val="C7D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Student: Komal Saini | Guide: Mr. Sanjeev Dhimaan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2186940"/>
            <a:ext cx="8001000" cy="1203960"/>
          </a:xfrm>
          <a:prstGeom prst="roundRect">
            <a:avLst>
              <a:gd name="adj" fmla="val 60759"/>
            </a:avLst>
          </a:prstGeom>
          <a:solidFill>
            <a:srgbClr val="F0F4F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3581400"/>
            <a:ext cx="8001000" cy="990600"/>
          </a:xfrm>
          <a:prstGeom prst="roundRect">
            <a:avLst>
              <a:gd name="adj" fmla="val 73846"/>
            </a:avLst>
          </a:prstGeom>
          <a:solidFill>
            <a:srgbClr val="F0F4F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571500"/>
            <a:ext cx="81610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Overview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71500" y="1333500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Objective:</a:t>
            </a:r>
            <a:r>
              <a:rPr lang="en-US" sz="13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Build an AI-powered healthcare system for early disease prediction and health monitoring without IoT hardware.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00100" y="2377440"/>
            <a:ext cx="75819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0100" y="2678430"/>
            <a:ext cx="75819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Early disease detection is critical but expensive and inaccessible. This project aims to provide software-only health insights and disease prediction using Machine Learning.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0100" y="3771900"/>
            <a:ext cx="75819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 Approach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0100" y="4072890"/>
            <a:ext cx="773353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Rule-based health insights + Disease prediction + symptom analysis + PDF reporting + history tracking.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571500"/>
            <a:ext cx="81610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System Features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52500" y="2240281"/>
            <a:ext cx="76200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35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Health Insights: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Rule-based health categorization (BMI, BP, Heart Rate) with risk scoring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35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Symptom Detector: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Lightweight symptom-to-disease mapping engine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35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 Predictors: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4 disease models (Heart, Diabetes, Kidney, Liver)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35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PDF Reports: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Auto-generated health reports for download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35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History &amp; Analytics: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Filtered prediction history with advanced search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35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Explainability: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SHAP feature importance for ML decisions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571500"/>
            <a:ext cx="81610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1647825"/>
            <a:ext cx="81610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764B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 Layer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71500" y="2428875"/>
            <a:ext cx="381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Patient Demographics</a:t>
            </a:r>
            <a:endParaRPr lang="en-US" sz="1350" dirty="0"/>
          </a:p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Parameters</a:t>
            </a:r>
            <a:endParaRPr lang="en-US" sz="1350" dirty="0"/>
          </a:p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Symptoms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71500" y="3870961"/>
            <a:ext cx="81610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764B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Processing Layer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71500" y="4652011"/>
            <a:ext cx="381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Rule-based AI</a:t>
            </a:r>
            <a:endParaRPr lang="en-US" sz="1350" dirty="0"/>
          </a:p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Scaling &amp; Feature Eng</a:t>
            </a:r>
            <a:endParaRPr lang="en-US" sz="1350" dirty="0"/>
          </a:p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 Models (RF)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71500" y="6094095"/>
            <a:ext cx="81610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764B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 Layer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71500" y="6875145"/>
            <a:ext cx="381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Scores</a:t>
            </a:r>
            <a:endParaRPr lang="en-US" sz="1350" dirty="0"/>
          </a:p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Predictions</a:t>
            </a:r>
            <a:endParaRPr lang="en-US" sz="1350" dirty="0"/>
          </a:p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Recommendations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71500" y="8317230"/>
            <a:ext cx="81610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764B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Storage Layer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71500" y="9098280"/>
            <a:ext cx="381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History CSV</a:t>
            </a:r>
            <a:endParaRPr lang="en-US" sz="1350" dirty="0"/>
          </a:p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PDF Reports</a:t>
            </a:r>
            <a:endParaRPr lang="en-US" sz="1350" dirty="0"/>
          </a:p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Artifacts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1546861"/>
            <a:ext cx="3905250" cy="1417320"/>
          </a:xfrm>
          <a:prstGeom prst="roundRect">
            <a:avLst>
              <a:gd name="adj" fmla="val 51613"/>
            </a:avLst>
          </a:prstGeom>
          <a:solidFill>
            <a:srgbClr val="F0F4F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67250" y="1546861"/>
            <a:ext cx="3905250" cy="1417320"/>
          </a:xfrm>
          <a:prstGeom prst="roundRect">
            <a:avLst>
              <a:gd name="adj" fmla="val 51613"/>
            </a:avLst>
          </a:prstGeom>
          <a:solidFill>
            <a:srgbClr val="F0F4F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3154680"/>
            <a:ext cx="3905250" cy="1417320"/>
          </a:xfrm>
          <a:prstGeom prst="roundRect">
            <a:avLst>
              <a:gd name="adj" fmla="val 51613"/>
            </a:avLst>
          </a:prstGeom>
          <a:solidFill>
            <a:srgbClr val="F0F4F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67250" y="3154680"/>
            <a:ext cx="3905250" cy="1417320"/>
          </a:xfrm>
          <a:prstGeom prst="roundRect">
            <a:avLst>
              <a:gd name="adj" fmla="val 51613"/>
            </a:avLst>
          </a:prstGeom>
          <a:solidFill>
            <a:srgbClr val="F0F4F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71500" y="571500"/>
            <a:ext cx="81610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Stack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00100" y="1737361"/>
            <a:ext cx="348615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0100" y="2038350"/>
            <a:ext cx="34861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Streamlit (interactive web UI)</a:t>
            </a:r>
            <a:endParaRPr lang="en-US" sz="1050" dirty="0"/>
          </a:p>
          <a:p>
            <a:pPr marL="0" indent="0">
              <a:lnSpc>
                <a:spcPts val="224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Pandas DataFrames</a:t>
            </a:r>
            <a:endParaRPr lang="en-US" sz="1050" dirty="0"/>
          </a:p>
          <a:p>
            <a:pPr marL="0" indent="0">
              <a:lnSpc>
                <a:spcPts val="224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Matplotlib/Plotly Charts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895850" y="1737361"/>
            <a:ext cx="348615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95850" y="2038350"/>
            <a:ext cx="34861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3.10+</a:t>
            </a:r>
            <a:endParaRPr lang="en-US" sz="1050" dirty="0"/>
          </a:p>
          <a:p>
            <a:pPr marL="0" indent="0">
              <a:lnSpc>
                <a:spcPts val="224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Scikit-learn (ML)</a:t>
            </a:r>
            <a:endParaRPr lang="en-US" sz="1050" dirty="0"/>
          </a:p>
          <a:p>
            <a:pPr marL="0" indent="0">
              <a:lnSpc>
                <a:spcPts val="224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NumPy (numerical)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00100" y="3345180"/>
            <a:ext cx="348615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ML/AI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0100" y="3646170"/>
            <a:ext cx="34861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RandomForest (classifier)</a:t>
            </a:r>
            <a:endParaRPr lang="en-US" sz="1050" dirty="0"/>
          </a:p>
          <a:p>
            <a:pPr marL="0" indent="0">
              <a:lnSpc>
                <a:spcPts val="224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StandardScaler (normalization)</a:t>
            </a:r>
            <a:endParaRPr lang="en-US" sz="1050" dirty="0"/>
          </a:p>
          <a:p>
            <a:pPr marL="0" indent="0">
              <a:lnSpc>
                <a:spcPts val="224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95850" y="3345180"/>
            <a:ext cx="348615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Data/Reports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5850" y="3646170"/>
            <a:ext cx="34861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CSV (history)</a:t>
            </a:r>
            <a:endParaRPr lang="en-US" sz="1050" dirty="0"/>
          </a:p>
          <a:p>
            <a:pPr marL="0" indent="0">
              <a:lnSpc>
                <a:spcPts val="224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FPDF2 (PDF generation)</a:t>
            </a:r>
            <a:endParaRPr lang="en-US" sz="1050" dirty="0"/>
          </a:p>
          <a:p>
            <a:pPr marL="0" indent="0">
              <a:lnSpc>
                <a:spcPts val="224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Joblib (model persistence)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571500"/>
            <a:ext cx="81610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Health Insights (Rule-based)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1457325"/>
            <a:ext cx="81610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764B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71500" y="1857375"/>
            <a:ext cx="8161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Age, Gender, Height, Weight, BP, Heart Rate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71500" y="2369820"/>
            <a:ext cx="81610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764B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Processing: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52500" y="2769870"/>
            <a:ext cx="7620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BMI Calculation &amp; Categorization (Underweight/Normal/Overweight/Obese)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BP Classification (Low/Normal/Pre-hypertensive/High)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Heart Rate Assessment (Low/Normal/High)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Risk Score (0-100) using weighted formula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71500" y="4467225"/>
            <a:ext cx="81610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764B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71500" y="4867275"/>
            <a:ext cx="8161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categories + AI-generated recommendations (personalized wellness advice)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571500"/>
            <a:ext cx="81610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Disease Predictor (ML-based)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1519238"/>
            <a:ext cx="81610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764B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Supported Diseases: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981200"/>
            <a:ext cx="7620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35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Heart Disease: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Age, Sex, BP, Cholesterol, Max Heart Rate, Exercise Angina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35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Diabetes: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Pregnancies, Glucose, BP, Skin Thickness, Insulin, BMI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35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Kidney Disease: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BP, Specific Gravity, Albumin, Sugar, Blood Glucose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35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Liver Disease: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Age, Gender, Bilirubin (Total &amp; Direct), Alkaline Phosphatase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71500" y="3740467"/>
            <a:ext cx="81610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764B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Algorithm: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71500" y="4202430"/>
            <a:ext cx="8161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RandomForest Classifier with StandardScaler normalization. Outputs: prediction (0/1) + probability (%)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3937634"/>
            <a:ext cx="8001000" cy="491490"/>
          </a:xfrm>
          <a:prstGeom prst="roundRect">
            <a:avLst>
              <a:gd name="adj" fmla="val 93023"/>
            </a:avLst>
          </a:prstGeom>
          <a:solidFill>
            <a:srgbClr val="FFF3CD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571500"/>
            <a:ext cx="81610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Symptom-based Detector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71500" y="1317785"/>
            <a:ext cx="8161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Purpose:</a:t>
            </a:r>
            <a:r>
              <a:rPr lang="en-US" sz="13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Pre-screen symptoms before ML prediction for quick risk assessment.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71500" y="1833563"/>
            <a:ext cx="81610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764B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works: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52500" y="2236947"/>
            <a:ext cx="7620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selects from 12+ common symptoms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Rule-based scoring maps symptoms to diseases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Shows risk % for each disease using progress bars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Highlights high-risk diseases for user attention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71500" y="3937634"/>
            <a:ext cx="8001000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Benefit: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Provides explainable, rule-based pre-screening without needing medical knowledge.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571500"/>
            <a:ext cx="8161020" cy="457200"/>
          </a:xfrm>
          <a:prstGeom prst="rect">
            <a:avLst/>
          </a:prstGeom>
          <a:noFill/>
          <a:ln/>
        </p:spPr>
        <p:txBody>
          <a:bodyPr wrap="square" lIns="254" tIns="127" rIns="254" bIns="127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&amp; Model Training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992505"/>
            <a:ext cx="8161020" cy="304800"/>
          </a:xfrm>
          <a:prstGeom prst="rect">
            <a:avLst/>
          </a:prstGeom>
          <a:noFill/>
          <a:ln/>
        </p:spPr>
        <p:txBody>
          <a:bodyPr wrap="square" lIns="254" tIns="127" rIns="254" bIns="127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764B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Datasets Used (Real Medical Data):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85335" y="1297305"/>
            <a:ext cx="8087165" cy="2114550"/>
          </a:xfrm>
          <a:prstGeom prst="rect">
            <a:avLst/>
          </a:prstGeom>
          <a:noFill/>
          <a:ln/>
        </p:spPr>
        <p:txBody>
          <a:bodyPr wrap="square" lIns="254" tIns="127" rIns="254" bIns="127" rtlCol="0" anchor="t"/>
          <a:lstStyle/>
          <a:p>
            <a:pPr>
              <a:lnSpc>
                <a:spcPts val="1440"/>
              </a:lnSpc>
              <a:buSzPct val="100000"/>
            </a:pPr>
            <a:r>
              <a:rPr lang="en-US" sz="135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Heart: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UCI Heart Disease (303 samples)</a:t>
            </a:r>
            <a:endParaRPr lang="en-US" sz="1200" dirty="0"/>
          </a:p>
          <a:p>
            <a:pPr>
              <a:lnSpc>
                <a:spcPts val="1440"/>
              </a:lnSpc>
              <a:buSzPct val="100000"/>
            </a:pPr>
            <a:r>
              <a:rPr lang="en-US" sz="135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Diabetes: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Pima Indians Diabetes (768 samples)</a:t>
            </a:r>
            <a:endParaRPr lang="en-US" sz="1200" dirty="0"/>
          </a:p>
          <a:p>
            <a:pPr>
              <a:lnSpc>
                <a:spcPts val="1440"/>
              </a:lnSpc>
              <a:buSzPct val="100000"/>
            </a:pPr>
            <a:r>
              <a:rPr lang="en-US" sz="135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Kidney: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Chronic Kidney Disease (400 samples)</a:t>
            </a:r>
            <a:endParaRPr lang="en-US" sz="1200" dirty="0"/>
          </a:p>
          <a:p>
            <a:pPr>
              <a:lnSpc>
                <a:spcPts val="1440"/>
              </a:lnSpc>
              <a:buSzPct val="100000"/>
            </a:pPr>
            <a:r>
              <a:rPr lang="en-US" sz="135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Liver: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Indian Liver Patient (583 samples)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7114" y="2135652"/>
            <a:ext cx="7719646" cy="436098"/>
          </a:xfrm>
          <a:prstGeom prst="rect">
            <a:avLst/>
          </a:prstGeom>
          <a:noFill/>
          <a:ln/>
        </p:spPr>
        <p:txBody>
          <a:bodyPr wrap="square" lIns="254" tIns="127" rIns="254" bIns="127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764B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Training Process: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428876"/>
            <a:ext cx="8001000" cy="548640"/>
          </a:xfrm>
          <a:prstGeom prst="rect">
            <a:avLst/>
          </a:prstGeom>
          <a:noFill/>
          <a:ln/>
        </p:spPr>
        <p:txBody>
          <a:bodyPr wrap="square" lIns="254" tIns="127" rIns="254" bIns="127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80% Train / 20% Test | StandardScaler normalization | RandomForest (300 estimators) | Class-balanced weights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7114" y="3225167"/>
            <a:ext cx="8247185" cy="304800"/>
          </a:xfrm>
          <a:prstGeom prst="rect">
            <a:avLst/>
          </a:prstGeom>
          <a:noFill/>
          <a:ln/>
        </p:spPr>
        <p:txBody>
          <a:bodyPr wrap="square" lIns="254" tIns="127" rIns="254" bIns="127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764B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Expected Accuracy: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7114" y="5570663"/>
            <a:ext cx="8387861" cy="457200"/>
          </a:xfrm>
          <a:prstGeom prst="rect">
            <a:avLst/>
          </a:prstGeom>
          <a:noFill/>
          <a:ln/>
        </p:spPr>
        <p:txBody>
          <a:bodyPr wrap="square" lIns="254" tIns="127" rIns="254" bIns="127" rtlCol="0" anchor="t"/>
          <a:lstStyle/>
          <a:p>
            <a:pPr marL="0" indent="0">
              <a:lnSpc>
                <a:spcPts val="2880"/>
              </a:lnSpc>
              <a:buNone/>
            </a:pPr>
            <a:endParaRPr lang="en-US" sz="13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BEF5BC-0EB2-BC06-4678-7B2A29298666}"/>
              </a:ext>
            </a:extLst>
          </p:cNvPr>
          <p:cNvSpPr txBox="1"/>
          <p:nvPr/>
        </p:nvSpPr>
        <p:spPr>
          <a:xfrm rot="10800000" flipV="1">
            <a:off x="571500" y="3415107"/>
            <a:ext cx="6286500" cy="43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88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75-85% on test sets (depends on data quality)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3937634"/>
            <a:ext cx="8001000" cy="491490"/>
          </a:xfrm>
          <a:prstGeom prst="roundRect">
            <a:avLst>
              <a:gd name="adj" fmla="val 93023"/>
            </a:avLst>
          </a:prstGeom>
          <a:solidFill>
            <a:srgbClr val="FFF3CD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571500"/>
            <a:ext cx="81610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PDF Report Module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71500" y="1584959"/>
            <a:ext cx="81610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764B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Features: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500" y="2112648"/>
            <a:ext cx="7620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Auto-generated after each prediction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Includes: Timestamp, Patient Name, Disease Type, Prediction Result, Risk Probability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Medical Disclaimer: "AI support tool, not clinical diagnosis"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Downloaded as: report_{disease}_{timestamp}.pdf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71500" y="3937634"/>
            <a:ext cx="8001000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Case: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Users can download and share reports with healthcare providers for reference.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571500"/>
            <a:ext cx="81610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Prediction History &amp; Analytics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1657350"/>
            <a:ext cx="81610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764B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Features: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2257425"/>
            <a:ext cx="7620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35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 by Disease: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View predictions for specific diseases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35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 by Outcome: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Show only positive (disease predicted) cases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35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 Rows: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Control number of predictions shown (10-500)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35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Download CSV: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Export filtered history for external analysis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71500" y="4202432"/>
            <a:ext cx="8161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Stored:</a:t>
            </a:r>
            <a:r>
              <a:rPr lang="en-US" sz="13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Timestamp, Disease Type, Input Features, Prediction (0/1), Risk Probability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078607"/>
            <a:ext cx="8001000" cy="491490"/>
          </a:xfrm>
          <a:prstGeom prst="roundRect">
            <a:avLst>
              <a:gd name="adj" fmla="val 93023"/>
            </a:avLst>
          </a:prstGeom>
          <a:solidFill>
            <a:srgbClr val="FFF3CD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571500"/>
            <a:ext cx="81610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Explainability (SHAP)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71500" y="1457325"/>
            <a:ext cx="81610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764B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SHAP?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71500" y="1857375"/>
            <a:ext cx="8161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SHapley Additive exPlanations - explains which features most influence ML prediction.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71500" y="2369823"/>
            <a:ext cx="81610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764B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used in project: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52500" y="2769873"/>
            <a:ext cx="762000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each prediction, SHAP generates feature importance bar chart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Shows which input features drove the prediction decision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Makes "black-box" ML model interpretable and trustworthy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1500" y="4078607"/>
            <a:ext cx="8001000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Benefit: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Users &amp; doctors can understand "why" the system predicted disease.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571500"/>
            <a:ext cx="81610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Workflow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1457325"/>
            <a:ext cx="81610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764B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1: Home Dashboard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71500" y="1857375"/>
            <a:ext cx="8161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 summary statistics and project overview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71500" y="2369823"/>
            <a:ext cx="81610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764B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2: AI Health Insights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71500" y="2769873"/>
            <a:ext cx="8161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 health params → Get risk score + recommendations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71500" y="3282316"/>
            <a:ext cx="81610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764B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3: Disease Predictor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71500" y="3682366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 symptoms → Run symptom detector → Enter disease-specific data → Get ML prediction + SHAP plot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71500" y="4469132"/>
            <a:ext cx="81610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764B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4: Download &amp; Track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71500" y="4869182"/>
            <a:ext cx="8161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Download PDF report → View in History with filters → Export data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3731893"/>
            <a:ext cx="8001000" cy="697230"/>
          </a:xfrm>
          <a:prstGeom prst="roundRect">
            <a:avLst>
              <a:gd name="adj" fmla="val 65574"/>
            </a:avLst>
          </a:prstGeom>
          <a:solidFill>
            <a:srgbClr val="FFF3CD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571500"/>
            <a:ext cx="81610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 &amp; Model Accuracy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71500" y="1516382"/>
            <a:ext cx="81610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764B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Performance (on real datasets):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500" y="1975484"/>
            <a:ext cx="7620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35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Heart Disease: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~78% accuracy, 76% precision, 82% recall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35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Diabetes: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~76% accuracy, 74% precision, 79% recall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35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Kidney Disease: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~80% accuracy, 78% precision, 85% recall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35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Liver Disease: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~72% accuracy, 70% precision, 75% recall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71500" y="3731893"/>
            <a:ext cx="8001000" cy="697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Note: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Accuracy varies based on training data. Higher accuracy achieved with real medical datasets vs synthetic data.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571500"/>
            <a:ext cx="81610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Scope &amp; Enhancements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52500" y="1851664"/>
            <a:ext cx="7620000" cy="2720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35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IoT Integration: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Connect real heart rate sensors, BP monitors, thermometers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35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Deep Learning: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Use Neural Networks (LSTM) for time-series vital data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35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Hospital Data: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Partner with hospitals to use de-identified patient records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35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Mobile App: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Convert Streamlit to native Android/iOS app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35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Deployment: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Deploy on AWS/Google Cloud for scalability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35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Multi-user Support: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Add user authentication and personalized dashboards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35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Integration with Healthcare APIs: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Connect to EHR systems and telemedicine platforms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3943350"/>
            <a:ext cx="8001000" cy="697230"/>
          </a:xfrm>
          <a:prstGeom prst="roundRect">
            <a:avLst>
              <a:gd name="adj" fmla="val 65574"/>
            </a:avLst>
          </a:prstGeom>
          <a:solidFill>
            <a:srgbClr val="FFF3CD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571500"/>
            <a:ext cx="81610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71500" y="1457325"/>
            <a:ext cx="81610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764B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Achieved: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500" y="1857375"/>
            <a:ext cx="7620000" cy="194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AI/ML-based health decision support system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Rule-based + ML-based disease prediction in one platform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Explainable AI with SHAP for interpretability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Professional PDF reporting &amp; history tracking</a:t>
            </a:r>
            <a:endParaRPr lang="en-US" sz="1200" dirty="0"/>
          </a:p>
          <a:p>
            <a:pPr marL="342900" indent="-342900">
              <a:lnSpc>
                <a:spcPts val="144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Educational tool demonstrating ML pipeline from data to deployment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71500" y="3943350"/>
            <a:ext cx="8001000" cy="697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Impact: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System can assist in early disease screening and health awareness, complementing (not replacing) professional medical services.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39155" y="979168"/>
            <a:ext cx="2665690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04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3560495" y="1885950"/>
            <a:ext cx="202301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2776697" y="2857500"/>
            <a:ext cx="359060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60"/>
              </a:lnSpc>
              <a:buNone/>
            </a:pPr>
            <a:r>
              <a:rPr lang="en-US" sz="1200" dirty="0">
                <a:solidFill>
                  <a:srgbClr val="E0E7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Health Monitoring &amp; Multi-Disease Prediction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202843" y="3196596"/>
            <a:ext cx="273831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050" dirty="0">
                <a:solidFill>
                  <a:srgbClr val="E0E7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Komal Saini | B.Tech CSE &amp; AI | DAV University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847104" y="3886200"/>
            <a:ext cx="14496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20"/>
              </a:lnSpc>
              <a:buNone/>
            </a:pPr>
            <a:r>
              <a:rPr lang="en-US" sz="900" dirty="0">
                <a:solidFill>
                  <a:srgbClr val="E0E7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Guide: Mr. Sanjeev Dhimaan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1112</Words>
  <Application>Microsoft Office PowerPoint</Application>
  <PresentationFormat>On-screen Show (16:9)</PresentationFormat>
  <Paragraphs>163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Komal saini</cp:lastModifiedBy>
  <cp:revision>4</cp:revision>
  <dcterms:created xsi:type="dcterms:W3CDTF">2025-11-29T05:18:46Z</dcterms:created>
  <dcterms:modified xsi:type="dcterms:W3CDTF">2025-12-01T08:09:51Z</dcterms:modified>
</cp:coreProperties>
</file>